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8" roundtripDataSignature="AMtx7mgqy9GIlm5gQhRtEMXl+1YN66mR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6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5.xml"/><Relationship Id="rId32" Type="http://schemas.openxmlformats.org/officeDocument/2006/relationships/font" Target="fonts/Raleway-italic.fntdata"/><Relationship Id="rId13" Type="http://schemas.openxmlformats.org/officeDocument/2006/relationships/slide" Target="slides/slide8.xml"/><Relationship Id="rId35" Type="http://schemas.openxmlformats.org/officeDocument/2006/relationships/font" Target="fonts/Lato-bold.fntdata"/><Relationship Id="rId12" Type="http://schemas.openxmlformats.org/officeDocument/2006/relationships/slide" Target="slides/slide7.xml"/><Relationship Id="rId34" Type="http://schemas.openxmlformats.org/officeDocument/2006/relationships/font" Target="fonts/Lato-regular.fntdata"/><Relationship Id="rId15" Type="http://schemas.openxmlformats.org/officeDocument/2006/relationships/slide" Target="slides/slide10.xml"/><Relationship Id="rId37" Type="http://schemas.openxmlformats.org/officeDocument/2006/relationships/font" Target="fonts/Lato-boldItalic.fntdata"/><Relationship Id="rId14" Type="http://schemas.openxmlformats.org/officeDocument/2006/relationships/slide" Target="slides/slide9.xml"/><Relationship Id="rId36" Type="http://schemas.openxmlformats.org/officeDocument/2006/relationships/font" Target="fonts/Lat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6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2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9" name="Google Shape;19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27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25;p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2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3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36" name="Google Shape;36;p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30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3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57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8" name="Google Shape;58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3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1" name="Google Shape;61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5" name="Google Shape;65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p34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" name="Google Shape;72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3" name="Google Shape;73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3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6" name="Google Shape;76;p3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7" name="Google Shape;77;p3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6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81" name="Google Shape;81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21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pt-BR" sz="6500"/>
              <a:t>DÉFICIT HABITACIONAL</a:t>
            </a:r>
            <a:endParaRPr sz="6500"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5784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pt-BR"/>
              <a:t>MINERAÇÃO DE DADOS, PADRÕES DE APRENDIZADO, APRENDIZADO SUPERVISIONADO, CONCEITOS DE ENTRADA E TIPOS DE APRENDIZADO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708100" y="1410150"/>
            <a:ext cx="70212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500"/>
              <a:t>1. SOBRE A MINERAÇÃO DE DADOS E O APRENDIZADO DE MÁQUINAS</a:t>
            </a:r>
            <a:endParaRPr sz="4000"/>
          </a:p>
        </p:txBody>
      </p:sp>
      <p:sp>
        <p:nvSpPr>
          <p:cNvPr id="93" name="Google Shape;93;p2"/>
          <p:cNvSpPr txBox="1"/>
          <p:nvPr>
            <p:ph idx="4294967295" type="subTitle"/>
          </p:nvPr>
        </p:nvSpPr>
        <p:spPr>
          <a:xfrm>
            <a:off x="727952" y="3499525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1300"/>
              <a:buFont typeface="Lato"/>
              <a:buNone/>
            </a:pPr>
            <a:r>
              <a:rPr b="0" i="0" lang="pt-BR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ÁREAS DA COMPUTAÇÃO</a:t>
            </a:r>
            <a:endParaRPr b="1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PADRÕES DE MODELOS DE APRENDIZADO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9" name="Google Shape;99;p3" title="black-box-x-transparent-bo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175" y="715088"/>
            <a:ext cx="7611650" cy="415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PADRÕES DE MODELOS DE APRENDIZADO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5" name="Google Shape;105;p4" title="black bo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38" y="1466875"/>
            <a:ext cx="8274325" cy="22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PADRÕES DE MODELOS DE APRENDIZADO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1" name="Google Shape;111;p5" title="controle-transparen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013" y="2182625"/>
            <a:ext cx="3928625" cy="24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5" title="transferir.jfif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7050" y="704250"/>
            <a:ext cx="2876775" cy="2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FASE DE APRENDIZADO E FASE DE TESTE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8" name="Google Shape;118;p6" title="fase de teste e faze de aprendizad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875" y="1028875"/>
            <a:ext cx="7715076" cy="33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708100" y="1410150"/>
            <a:ext cx="70212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pt-BR" sz="3000">
                <a:latin typeface="Lato"/>
                <a:ea typeface="Lato"/>
                <a:cs typeface="Lato"/>
                <a:sym typeface="Lato"/>
              </a:rPr>
              <a:t>2. APRESENTADO BASE DE DADOS, ENTRADAS, SAÍDAS E CONCEITOS</a:t>
            </a:r>
            <a:endParaRPr sz="4000"/>
          </a:p>
        </p:txBody>
      </p:sp>
      <p:sp>
        <p:nvSpPr>
          <p:cNvPr id="124" name="Google Shape;124;p7"/>
          <p:cNvSpPr txBox="1"/>
          <p:nvPr>
            <p:ph idx="4294967295" type="subTitle"/>
          </p:nvPr>
        </p:nvSpPr>
        <p:spPr>
          <a:xfrm>
            <a:off x="727952" y="3499525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1300"/>
              <a:buFont typeface="Lato"/>
              <a:buNone/>
            </a:pPr>
            <a:r>
              <a:rPr b="0" i="0" lang="pt-BR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INTRODUÇÃO A PRÁTICA</a:t>
            </a:r>
            <a:endParaRPr b="1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idx="4294967295"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ENTRADAS, SAÍDAS E  CONCEITOS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8950"/>
            <a:ext cx="8839201" cy="378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idx="4294967295"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ENTRADAS, SAÍDAS E  CONCEITOS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200" y="898950"/>
            <a:ext cx="638175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idx="4294967295"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ENTRADAS, SAÍDAS E  CONCEITOS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550" y="898950"/>
            <a:ext cx="638175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0"/>
          <p:cNvSpPr txBox="1"/>
          <p:nvPr/>
        </p:nvSpPr>
        <p:spPr>
          <a:xfrm>
            <a:off x="1706925" y="4307275"/>
            <a:ext cx="342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(Valores meramente ilustrativos!!!)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375" y="2462925"/>
            <a:ext cx="6391275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708100" y="1410150"/>
            <a:ext cx="70212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600"/>
              <a:buNone/>
            </a:pPr>
            <a:r>
              <a:rPr lang="pt-BR" sz="3000">
                <a:latin typeface="Lato"/>
                <a:ea typeface="Lato"/>
                <a:cs typeface="Lato"/>
                <a:sym typeface="Lato"/>
              </a:rPr>
              <a:t>3. APRENDIZADO SUPERVISIONADO E  NÃO SUPERVISIONADO</a:t>
            </a:r>
            <a:endParaRPr sz="4000"/>
          </a:p>
        </p:txBody>
      </p:sp>
      <p:sp>
        <p:nvSpPr>
          <p:cNvPr id="150" name="Google Shape;150;p11"/>
          <p:cNvSpPr txBox="1"/>
          <p:nvPr>
            <p:ph idx="4294967295" type="subTitle"/>
          </p:nvPr>
        </p:nvSpPr>
        <p:spPr>
          <a:xfrm>
            <a:off x="727952" y="3499525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1300"/>
              <a:buFont typeface="Lato"/>
              <a:buNone/>
            </a:pPr>
            <a:r>
              <a:rPr b="0" i="0" lang="pt-BR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DESTRINCHANDO CONCEITOS</a:t>
            </a:r>
            <a:endParaRPr b="1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>
            <p:ph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SUPERVISIONADO X NÃO SUPERVISIONADO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6" name="Google Shape;156;p12" title="supervisionado-e-nao-supervisionado-exempl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5827" y="627048"/>
            <a:ext cx="5452349" cy="438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SOBREAJUSTE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2" name="Google Shape;162;p13" title="underfitting-overfitting.excalidraw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325" y="898950"/>
            <a:ext cx="5036876" cy="205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3" title="SOBRE OVEFFITING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4750" y="3123975"/>
            <a:ext cx="5353301" cy="182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708100" y="1410150"/>
            <a:ext cx="70212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600"/>
              <a:buNone/>
            </a:pPr>
            <a:r>
              <a:rPr lang="pt-BR" sz="3000">
                <a:latin typeface="Lato"/>
                <a:ea typeface="Lato"/>
                <a:cs typeface="Lato"/>
                <a:sym typeface="Lato"/>
              </a:rPr>
              <a:t>4. EXPLORANDO TIPOS DE APRENDIZADO SUPERVISIONADO</a:t>
            </a:r>
            <a:endParaRPr sz="4000"/>
          </a:p>
        </p:txBody>
      </p:sp>
      <p:sp>
        <p:nvSpPr>
          <p:cNvPr id="169" name="Google Shape;169;p14"/>
          <p:cNvSpPr txBox="1"/>
          <p:nvPr>
            <p:ph idx="4294967295" type="subTitle"/>
          </p:nvPr>
        </p:nvSpPr>
        <p:spPr>
          <a:xfrm>
            <a:off x="727952" y="3499525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1300"/>
              <a:buFont typeface="Lato"/>
              <a:buNone/>
            </a:pPr>
            <a:r>
              <a:rPr b="0" i="0" lang="pt-BR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TRÊS PILARES: PODER PREDITIVO, PODER DE INTERPRETABILIDADE E CUSTO COMPUTACIONAL</a:t>
            </a:r>
            <a:endParaRPr b="1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REGRESSÃO LINEAR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5" name="Google Shape;175;p15" title="REGRESSÃ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800" y="1082925"/>
            <a:ext cx="6856806" cy="236658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5"/>
          <p:cNvSpPr txBox="1"/>
          <p:nvPr/>
        </p:nvSpPr>
        <p:spPr>
          <a:xfrm>
            <a:off x="507825" y="3939900"/>
            <a:ext cx="5615400" cy="16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Exemplo:</a:t>
            </a:r>
            <a:endParaRPr b="1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Previsão = (peso₁ × renda) + (peso₂ × adensamento) + ... </a:t>
            </a:r>
            <a:endParaRPr b="1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PROBLEMAS DA REGRESSÃO LINEAR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2" name="Google Shape;182;p16" title="linearida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212" y="1234000"/>
            <a:ext cx="7571576" cy="524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>
            <p:ph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REDES NEURAIS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8" name="Google Shape;188;p17" title="REDE NEUR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00" y="830450"/>
            <a:ext cx="5986191" cy="393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/>
          <p:nvPr>
            <p:ph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PROBLEMAS DA REDE NEURAL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4" name="Google Shape;194;p18" title="REDE-REUN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563" y="898950"/>
            <a:ext cx="7662863" cy="288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/>
          <p:nvPr>
            <p:ph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PROBLEMAS DA REDE NEURAL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0" name="Google Shape;200;p19" title="REDE-REUNA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563" y="898950"/>
            <a:ext cx="7662863" cy="288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507825" y="3939900"/>
            <a:ext cx="76629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Questionamento:</a:t>
            </a:r>
            <a:br>
              <a:rPr b="1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complexidade adicional, o tempo de treinamento e a perda de interpretabilidade de uma Rede Neural são justificados por uma melhoria significativa na precisão?</a:t>
            </a:r>
            <a:endParaRPr b="1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>
            <p:ph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ÁRVORE DE DECISÃO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7" name="Google Shape;207;p20" title="unnamed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14900"/>
            <a:ext cx="5797224" cy="322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title="Decision-Trees-modified-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571750"/>
            <a:ext cx="390525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type="title"/>
          </p:nvPr>
        </p:nvSpPr>
        <p:spPr>
          <a:xfrm>
            <a:off x="708100" y="1410150"/>
            <a:ext cx="70212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3600"/>
              <a:buNone/>
            </a:pPr>
            <a:r>
              <a:rPr lang="pt-BR" sz="3000">
                <a:latin typeface="Lato"/>
                <a:ea typeface="Lato"/>
                <a:cs typeface="Lato"/>
                <a:sym typeface="Lato"/>
              </a:rPr>
              <a:t>4. CONCLUSÕES E PRÓXIMOS PASSOS</a:t>
            </a:r>
            <a:endParaRPr sz="4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850" y="452200"/>
            <a:ext cx="8258551" cy="375607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>
            <p:ph idx="4294967295"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ÁRVORE DE MODELO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/>
          <p:nvPr>
            <p:ph idx="4294967295" type="title"/>
          </p:nvPr>
        </p:nvSpPr>
        <p:spPr>
          <a:xfrm>
            <a:off x="0" y="-94650"/>
            <a:ext cx="8570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pt-BR" sz="3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FLORESTA ALEATÓRIA</a:t>
            </a:r>
            <a:endParaRPr sz="3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5" name="Google Shape;225;p23" title="FLORESTA ALEATORIA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575" y="478325"/>
            <a:ext cx="6649227" cy="47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538" y="1262063"/>
            <a:ext cx="7400925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