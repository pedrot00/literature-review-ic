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j8kpKHrqFPy98vJNEZwEK+tFlj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/>
              <a:t>Metodologia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/>
              <a:t>Déficit Habitacional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1149000" y="2985575"/>
            <a:ext cx="6846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10526"/>
              <a:buNone/>
            </a:pPr>
            <a:r>
              <a:rPr lang="pt-BR"/>
              <a:t>Componentes de cálculo, como medimos, desafios da mensuração e evolução metodológica.</a:t>
            </a:r>
            <a:endParaRPr/>
          </a:p>
        </p:txBody>
      </p:sp>
      <p:pic>
        <p:nvPicPr>
          <p:cNvPr id="56" name="Google Shape;56;p1" title="icon ufv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0" y="3526775"/>
            <a:ext cx="1710800" cy="17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0" y="4836400"/>
            <a:ext cx="80868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000"/>
              <a:t>                  Setembro - 2025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ctrTitle"/>
          </p:nvPr>
        </p:nvSpPr>
        <p:spPr>
          <a:xfrm>
            <a:off x="-229524" y="67575"/>
            <a:ext cx="71070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/>
              <a:t>Tópicos abordados</a:t>
            </a:r>
            <a:endParaRPr/>
          </a:p>
        </p:txBody>
      </p:sp>
      <p:sp>
        <p:nvSpPr>
          <p:cNvPr id="63" name="Google Shape;63;p2"/>
          <p:cNvSpPr txBox="1"/>
          <p:nvPr>
            <p:ph idx="1" type="subTitle"/>
          </p:nvPr>
        </p:nvSpPr>
        <p:spPr>
          <a:xfrm>
            <a:off x="808800" y="1441650"/>
            <a:ext cx="6364800" cy="24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O Problema: Entendendo o déficit habitacional e objetivo da metodologia;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Sobre o cálculo do déficit habitacional, seus componentes e variáveis;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O Desafio: Principais dificuldades da mensuração;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Processo histórico e alterações metodológicas;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</a:rPr>
              <a:t>Dúvidas e pontos de atenção.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4" name="Google Shape;64;p2" title="icon ufv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0" y="3526775"/>
            <a:ext cx="1710800" cy="17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ctrTitle"/>
          </p:nvPr>
        </p:nvSpPr>
        <p:spPr>
          <a:xfrm>
            <a:off x="497650" y="417475"/>
            <a:ext cx="63879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pt-BR" sz="3000"/>
              <a:t>O problema: Entendendo o déficit habitacional</a:t>
            </a:r>
            <a:endParaRPr sz="3000"/>
          </a:p>
        </p:txBody>
      </p:sp>
      <p:sp>
        <p:nvSpPr>
          <p:cNvPr id="70" name="Google Shape;70;p3"/>
          <p:cNvSpPr txBox="1"/>
          <p:nvPr>
            <p:ph idx="1" type="subTitle"/>
          </p:nvPr>
        </p:nvSpPr>
        <p:spPr>
          <a:xfrm>
            <a:off x="497650" y="1595425"/>
            <a:ext cx="6791700" cy="27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 Ampla necessidade habitacional e não somente limitação a falta de moradia;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devemos analisar, caracterizar e trabalhar os dados quantitativos sobre a problemática a fim de dimensionar o problema para a viabilização de políticas complementares;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Déficit por reposição: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problemas estruturais da construção, má qualidade extrema;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depreciação e precariedade extrema dos domicílios(domicílios improvisados);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Déficit por incremento: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ausência de moradias;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pt-BR" sz="1200">
                <a:solidFill>
                  <a:schemeClr val="dk1"/>
                </a:solidFill>
              </a:rPr>
              <a:t>contempla coabitação familiar, domicílios fortemente adensados e ônus excessivo;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71" name="Google Shape;71;p3" title="icon ufv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0" y="3526775"/>
            <a:ext cx="1710800" cy="17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ctrTitle"/>
          </p:nvPr>
        </p:nvSpPr>
        <p:spPr>
          <a:xfrm>
            <a:off x="497650" y="417475"/>
            <a:ext cx="63879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pt-BR" sz="3000"/>
              <a:t>O problema: Entendendo o déficit habitacional</a:t>
            </a:r>
            <a:endParaRPr sz="3000"/>
          </a:p>
        </p:txBody>
      </p:sp>
      <p:sp>
        <p:nvSpPr>
          <p:cNvPr id="77" name="Google Shape;77;p4"/>
          <p:cNvSpPr txBox="1"/>
          <p:nvPr>
            <p:ph idx="1" type="subTitle"/>
          </p:nvPr>
        </p:nvSpPr>
        <p:spPr>
          <a:xfrm>
            <a:off x="497650" y="1595425"/>
            <a:ext cx="6791700" cy="27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 Acesso à moradia como um direito legal;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Relação entre a falta de direito à habitação e a coabitação familiar.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78" name="Google Shape;78;p4" title="icon ufv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0" y="3526775"/>
            <a:ext cx="1710800" cy="17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ctrTitle"/>
          </p:nvPr>
        </p:nvSpPr>
        <p:spPr>
          <a:xfrm>
            <a:off x="497650" y="417475"/>
            <a:ext cx="86463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3000"/>
              <a:t>2. Sobre o cálculo do déficit habitacional, seus         componentes e variáveis </a:t>
            </a:r>
            <a:endParaRPr sz="3000"/>
          </a:p>
        </p:txBody>
      </p:sp>
      <p:sp>
        <p:nvSpPr>
          <p:cNvPr id="84" name="Google Shape;84;p5"/>
          <p:cNvSpPr txBox="1"/>
          <p:nvPr>
            <p:ph idx="1" type="subTitle"/>
          </p:nvPr>
        </p:nvSpPr>
        <p:spPr>
          <a:xfrm>
            <a:off x="497650" y="1595425"/>
            <a:ext cx="6791700" cy="27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Componentes: domicílios precários, coabitação familiar, ônus excessivo com aluguel e adensamento excessivo de domicílios alugados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pt-BR" sz="1200">
                <a:solidFill>
                  <a:schemeClr val="dk1"/>
                </a:solidFill>
              </a:rPr>
              <a:t>Domicílios precários</a:t>
            </a:r>
            <a:r>
              <a:rPr lang="pt-BR" sz="1200">
                <a:solidFill>
                  <a:schemeClr val="dk1"/>
                </a:solidFill>
              </a:rPr>
              <a:t>: domicílios improvisados e domicílios rústicos;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pt-BR" sz="1200">
                <a:solidFill>
                  <a:schemeClr val="dk1"/>
                </a:solidFill>
              </a:rPr>
              <a:t>Coabitação familiar</a:t>
            </a:r>
            <a:r>
              <a:rPr lang="pt-BR" sz="1200">
                <a:solidFill>
                  <a:schemeClr val="dk1"/>
                </a:solidFill>
              </a:rPr>
              <a:t>:  famílias conviventes com intenção de constituir domicílios exclusivos ou que residem em cômodos que mascaram a coabitação;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pt-BR" sz="1200">
                <a:solidFill>
                  <a:schemeClr val="dk1"/>
                </a:solidFill>
              </a:rPr>
              <a:t>Ônus excessivo de aluguel</a:t>
            </a:r>
            <a:r>
              <a:rPr lang="pt-BR" sz="1200">
                <a:solidFill>
                  <a:schemeClr val="dk1"/>
                </a:solidFill>
              </a:rPr>
              <a:t>: e famílias urbanas com renda de até três salários que despendem 30% ou mais de sua renda com aluguel;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pt-BR" sz="1200">
                <a:solidFill>
                  <a:schemeClr val="dk1"/>
                </a:solidFill>
              </a:rPr>
              <a:t>Adensamento excessivo de domicílios alugados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85" name="Google Shape;85;p5" title="icon ufv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0" y="3526775"/>
            <a:ext cx="1710800" cy="17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ctrTitle"/>
          </p:nvPr>
        </p:nvSpPr>
        <p:spPr>
          <a:xfrm>
            <a:off x="497650" y="417475"/>
            <a:ext cx="86463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3000"/>
              <a:t>2. Sobre o cálculo do déficit habitacional, seus         componentes e variáveis </a:t>
            </a:r>
            <a:endParaRPr sz="3000"/>
          </a:p>
        </p:txBody>
      </p:sp>
      <p:sp>
        <p:nvSpPr>
          <p:cNvPr id="91" name="Google Shape;91;p6"/>
          <p:cNvSpPr txBox="1"/>
          <p:nvPr>
            <p:ph idx="1" type="subTitle"/>
          </p:nvPr>
        </p:nvSpPr>
        <p:spPr>
          <a:xfrm>
            <a:off x="379750" y="1422250"/>
            <a:ext cx="7505400" cy="3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2881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500">
                <a:solidFill>
                  <a:schemeClr val="dk1"/>
                </a:solidFill>
              </a:rPr>
              <a:t>Hierarquia de componentes para o cálculo do déficit habitacional contabilizados como unidades de déficit;</a:t>
            </a:r>
            <a:endParaRPr sz="1500">
              <a:solidFill>
                <a:schemeClr val="dk1"/>
              </a:solidFill>
            </a:endParaRPr>
          </a:p>
          <a:p>
            <a:pPr indent="-2881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500">
                <a:solidFill>
                  <a:schemeClr val="dk1"/>
                </a:solidFill>
              </a:rPr>
              <a:t>Soma de componentes para estimar déficit total;</a:t>
            </a:r>
            <a:endParaRPr sz="1500">
              <a:solidFill>
                <a:schemeClr val="dk1"/>
              </a:solidFill>
            </a:endParaRPr>
          </a:p>
          <a:p>
            <a:pPr indent="-2881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500">
                <a:solidFill>
                  <a:schemeClr val="dk1"/>
                </a:solidFill>
              </a:rPr>
              <a:t>Revisão dos principais componentes:</a:t>
            </a:r>
            <a:endParaRPr sz="1500">
              <a:solidFill>
                <a:schemeClr val="dk1"/>
              </a:solidFill>
            </a:endParaRPr>
          </a:p>
          <a:p>
            <a:pPr indent="-2881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500">
                <a:solidFill>
                  <a:schemeClr val="dk1"/>
                </a:solidFill>
              </a:rPr>
              <a:t>Domicílios precários (improvisados e rústicos); </a:t>
            </a:r>
            <a:endParaRPr sz="1500">
              <a:solidFill>
                <a:schemeClr val="dk1"/>
              </a:solidFill>
            </a:endParaRPr>
          </a:p>
          <a:p>
            <a:pPr indent="-2881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500">
                <a:solidFill>
                  <a:schemeClr val="dk1"/>
                </a:solidFill>
              </a:rPr>
              <a:t>Número de famílias que têm dificuldades de acesso devido aos elevados custos com aluguel;</a:t>
            </a:r>
            <a:endParaRPr sz="1500">
              <a:solidFill>
                <a:schemeClr val="dk1"/>
              </a:solidFill>
            </a:endParaRPr>
          </a:p>
          <a:p>
            <a:pPr indent="-2881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500">
                <a:solidFill>
                  <a:schemeClr val="dk1"/>
                </a:solidFill>
              </a:rPr>
              <a:t>Número de famílias que não têm a liberdade de acesso em formar um novo domicílio. "</a:t>
            </a:r>
            <a:endParaRPr sz="1500">
              <a:solidFill>
                <a:schemeClr val="dk1"/>
              </a:solidFill>
            </a:endParaRPr>
          </a:p>
          <a:p>
            <a:pPr indent="-2881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500">
                <a:solidFill>
                  <a:schemeClr val="dk1"/>
                </a:solidFill>
              </a:rPr>
              <a:t>Ordem da hierarquia:</a:t>
            </a:r>
            <a:br>
              <a:rPr lang="pt-BR" sz="1500">
                <a:solidFill>
                  <a:schemeClr val="dk1"/>
                </a:solidFill>
              </a:rPr>
            </a:br>
            <a:r>
              <a:rPr lang="pt-BR" sz="1500">
                <a:solidFill>
                  <a:schemeClr val="dk1"/>
                </a:solidFill>
              </a:rPr>
              <a:t>    1. Domicílios improvisados e domicílios rústicos (compõem as habitações precárias); 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98666"/>
              <a:buNone/>
            </a:pPr>
            <a:r>
              <a:rPr lang="pt-BR" sz="1500">
                <a:solidFill>
                  <a:schemeClr val="dk1"/>
                </a:solidFill>
              </a:rPr>
              <a:t>    2. Cômodo (parte do componente coabitação); 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98666"/>
              <a:buNone/>
            </a:pPr>
            <a:r>
              <a:rPr lang="pt-BR" sz="1500">
                <a:solidFill>
                  <a:schemeClr val="dk1"/>
                </a:solidFill>
              </a:rPr>
              <a:t>    3. Ônus excessivo com aluguel urbano;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98666"/>
              <a:buNone/>
            </a:pPr>
            <a:r>
              <a:rPr lang="pt-BR" sz="1500">
                <a:solidFill>
                  <a:schemeClr val="dk1"/>
                </a:solidFill>
              </a:rPr>
              <a:t>    4. Adensamento excessivo de domicílios alugados;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98666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98666"/>
              <a:buNone/>
            </a:pPr>
            <a:r>
              <a:rPr b="1" lang="pt-BR" sz="1500">
                <a:solidFill>
                  <a:schemeClr val="dk1"/>
                </a:solidFill>
              </a:rPr>
              <a:t>"O conceito de Inadequação de Domicílios foi dividido em cinco dimensões não excludentes e que podem, portanto, estar presentes simultaneamente em um domicílio. [...] Em função disso, os resultados coletados por tipo de inadequação não podem ser somados, sob risco de múltipla contagem"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800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92" name="Google Shape;92;p6" title="icon ufv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0" y="3526775"/>
            <a:ext cx="1710800" cy="17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ctrTitle"/>
          </p:nvPr>
        </p:nvSpPr>
        <p:spPr>
          <a:xfrm>
            <a:off x="497650" y="417475"/>
            <a:ext cx="86463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3000"/>
              <a:t>3. O Desafio: Principais dificuldades da mensuração;  </a:t>
            </a:r>
            <a:endParaRPr sz="3000"/>
          </a:p>
        </p:txBody>
      </p:sp>
      <p:sp>
        <p:nvSpPr>
          <p:cNvPr id="98" name="Google Shape;98;p7"/>
          <p:cNvSpPr txBox="1"/>
          <p:nvPr>
            <p:ph idx="1" type="subTitle"/>
          </p:nvPr>
        </p:nvSpPr>
        <p:spPr>
          <a:xfrm>
            <a:off x="497650" y="1367575"/>
            <a:ext cx="6791700" cy="27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89032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-2901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250">
                <a:solidFill>
                  <a:schemeClr val="dk1"/>
                </a:solidFill>
              </a:rPr>
              <a:t>Principais fatores que impactam na impossibilidade de dimensionar o cálculo:</a:t>
            </a:r>
            <a:endParaRPr sz="1250">
              <a:solidFill>
                <a:schemeClr val="dk1"/>
              </a:solidFill>
            </a:endParaRPr>
          </a:p>
          <a:p>
            <a:pPr indent="-2901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250">
                <a:solidFill>
                  <a:schemeClr val="dk1"/>
                </a:solidFill>
              </a:rPr>
              <a:t>Indisponibilidade de dados sobre os domicílios improvisados; </a:t>
            </a:r>
            <a:endParaRPr sz="1250">
              <a:solidFill>
                <a:schemeClr val="dk1"/>
              </a:solidFill>
            </a:endParaRPr>
          </a:p>
          <a:p>
            <a:pPr indent="-2901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250">
                <a:solidFill>
                  <a:schemeClr val="dk1"/>
                </a:solidFill>
              </a:rPr>
              <a:t>Falta da identificação das famílias, no caso, famílias conviventes; </a:t>
            </a:r>
            <a:endParaRPr sz="1250">
              <a:solidFill>
                <a:schemeClr val="dk1"/>
              </a:solidFill>
            </a:endParaRPr>
          </a:p>
          <a:p>
            <a:pPr indent="-2901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250">
                <a:solidFill>
                  <a:schemeClr val="dk1"/>
                </a:solidFill>
              </a:rPr>
              <a:t>Falta da possibilidade de identificação da renda familiar </a:t>
            </a:r>
            <a:endParaRPr sz="1250">
              <a:solidFill>
                <a:schemeClr val="dk1"/>
              </a:solidFill>
            </a:endParaRPr>
          </a:p>
          <a:p>
            <a:pPr indent="-290162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250">
                <a:solidFill>
                  <a:schemeClr val="dk1"/>
                </a:solidFill>
              </a:rPr>
              <a:t>Identificação da situação dos domicílios classificados como “Rural – Aglomerado rural com extensão urbana”, que passaram a ser classificados somente como rurais (impacto no cálculo do ônus).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89032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-2901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250">
                <a:solidFill>
                  <a:schemeClr val="dk1"/>
                </a:solidFill>
              </a:rPr>
              <a:t>Problema que ocorre em favelas, aglomerados subnormais e ocupações irregulares, mas também em áreas rurais muito isoladas ou periferias urbanas precárias.</a:t>
            </a:r>
            <a:endParaRPr sz="1250">
              <a:solidFill>
                <a:schemeClr val="dk1"/>
              </a:solidFill>
            </a:endParaRPr>
          </a:p>
          <a:p>
            <a:pPr indent="-290162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250">
                <a:solidFill>
                  <a:schemeClr val="dk1"/>
                </a:solidFill>
              </a:rPr>
              <a:t>Acesso a informações moldam novas metodologias e aprimorando metodologias antigas;</a:t>
            </a:r>
            <a:endParaRPr sz="125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25806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99" name="Google Shape;99;p7" title="icon ufv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0" y="3526775"/>
            <a:ext cx="1710800" cy="17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ctrTitle"/>
          </p:nvPr>
        </p:nvSpPr>
        <p:spPr>
          <a:xfrm>
            <a:off x="497650" y="332775"/>
            <a:ext cx="86463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3000"/>
              <a:t>4. Processo histórico e alterações 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3000"/>
              <a:t>metodológicas; </a:t>
            </a:r>
            <a:endParaRPr sz="3000"/>
          </a:p>
        </p:txBody>
      </p:sp>
      <p:pic>
        <p:nvPicPr>
          <p:cNvPr id="105" name="Google Shape;105;p8" title="icon ufv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0" y="3526775"/>
            <a:ext cx="1710800" cy="17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 txBox="1"/>
          <p:nvPr>
            <p:ph idx="1" type="subTitle"/>
          </p:nvPr>
        </p:nvSpPr>
        <p:spPr>
          <a:xfrm>
            <a:off x="497650" y="1526575"/>
            <a:ext cx="6791700" cy="27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Mudanças metodológicas advêm de ajustes conceituais e acesso a dados e variáveis;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As fontes principais são do IBGE e seus microdados (Censo e Pnad);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As mudanças acompanham alterações nos componentes e adição de variáveis;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 Necessidades habitacionais nunca serão atendidas por completo em nenhum momento cronológico da história;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Moradia como direito e não como posse de recursos;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ctrTitle"/>
          </p:nvPr>
        </p:nvSpPr>
        <p:spPr>
          <a:xfrm>
            <a:off x="497650" y="103275"/>
            <a:ext cx="86463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 sz="3000"/>
              <a:t>5. Dúvidas e pontos de atenção</a:t>
            </a:r>
            <a:endParaRPr sz="3000"/>
          </a:p>
        </p:txBody>
      </p:sp>
      <p:pic>
        <p:nvPicPr>
          <p:cNvPr id="112" name="Google Shape;112;p9" title="icon ufv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0" y="3526775"/>
            <a:ext cx="1710800" cy="17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9"/>
          <p:cNvSpPr txBox="1"/>
          <p:nvPr>
            <p:ph idx="1" type="subTitle"/>
          </p:nvPr>
        </p:nvSpPr>
        <p:spPr>
          <a:xfrm>
            <a:off x="497650" y="1216050"/>
            <a:ext cx="6791700" cy="27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“No caso específico dos indivíduos ou famílias de baixa renda com dificuldades de pagar aluguel nas áreas urbanas, num primeiro momento, considera-se que essa questão envolva muito mais problemas relacionados à oferta e à demanda de mercado por habitação do que à perspectiva de um déficit entendido como necessidades ou carências”.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</a:rPr>
              <a:t>Como são caracterizados, dentro do cálculo do déficit habitacional, os impactos em relação à infraestrutura urbana, como ausência de saneamento básico e abastecimento de água?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