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6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e5935dd15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e5935dd15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e5935dd15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9e5935dd15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e5935dd15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e5935dd15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e5935dd15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9e5935dd15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e5935dd15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e5935dd15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e5935dd15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9e5935dd15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e5935dd15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e5935dd15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e5935dd1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e5935dd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e5935dd15_0_6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9e5935dd15_0_6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e5935dd15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e5935dd15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e5935dd15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e5935dd15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e5935dd15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e5935dd15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e5935dd15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e5935dd15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e5935dd15_0_1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e5935dd15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e5935dd15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9e5935dd15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e5935dd15_0_1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e5935dd15_0_1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e5935dd15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9e5935dd15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e5935dd15_0_1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e5935dd15_0_1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e5935dd15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e5935dd15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e5935dd15_0_1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e5935dd15_0_1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e5935dd15_0_1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e5935dd15_0_1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e5935dd15_0_1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e5935dd15_0_1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e8d02f30c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e8d02f30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e5935dd15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e5935dd15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hyperlink" Target="https://github.com/pedrot00/ic-deficit-habitacional/blob/main/Codigos/BDD/BD_MG_DEFICIT.csv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935825"/>
            <a:ext cx="7148400" cy="13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DE APRENDIZADO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3047275"/>
            <a:ext cx="7044900" cy="7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Floresta Aleatória, mapa de calor, correlação linear, análise importância de variáveis, presença de zeros e particularidade das bases de dados.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1. BANCO DE DADOS UTILIZADO PARA ANÁLISE</a:t>
            </a:r>
            <a:endParaRPr sz="4000"/>
          </a:p>
        </p:txBody>
      </p:sp>
      <p:sp>
        <p:nvSpPr>
          <p:cNvPr id="93" name="Google Shape;93;p14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lang="pt-BR">
                <a:solidFill>
                  <a:schemeClr val="lt1"/>
                </a:solidFill>
              </a:rPr>
              <a:t>Explorando Áreas de Ponderação em Minas Gerais.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923226" cy="323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8026" y="152400"/>
            <a:ext cx="2763573" cy="419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406450" y="4057150"/>
            <a:ext cx="493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5"/>
              </a:rPr>
              <a:t>Banco de Dados - Áreas de Ponderação MG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08100" y="1410150"/>
            <a:ext cx="70212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2. CORRELAÇÃO LINEAR E MAPA DE CALOR</a:t>
            </a:r>
            <a:endParaRPr sz="4000"/>
          </a:p>
        </p:txBody>
      </p:sp>
      <p:sp>
        <p:nvSpPr>
          <p:cNvPr id="106" name="Google Shape;106;p16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lang="pt-BR">
                <a:solidFill>
                  <a:schemeClr val="lt1"/>
                </a:solidFill>
              </a:rPr>
              <a:t>Análise visual das variáveis de entrada e impactos individuais nas saídas.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82350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 txBox="1"/>
          <p:nvPr/>
        </p:nvSpPr>
        <p:spPr>
          <a:xfrm>
            <a:off x="1034625" y="-103450"/>
            <a:ext cx="79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Domicílios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Precários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1637825" y="-42550"/>
            <a:ext cx="79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Coabitação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2213100" y="-103450"/>
            <a:ext cx="79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Ônus excessivo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2807250" y="-42550"/>
            <a:ext cx="8655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Adensamento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3524575" y="-103450"/>
            <a:ext cx="60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Déficit Total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975900" y="229250"/>
            <a:ext cx="37761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Correlação positiva perfeita (+1):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Quanto mais a variável de entrada aumenta, mais a saída tende a aumentar de forma perfeitamente previsível e linear;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Ausência de correlação linear (0.0):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Não há relação linear discernível entre as variáveis. Importante: pode ainda existir relação não-linear;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Correlação negativa perfeita (-1):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Quanto mais a variável de entrada aumenta, mais a saída tende a diminuir de forma perfeitamente previsível e linear.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5742100" y="3406825"/>
            <a:ext cx="3414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4975900" y="3086425"/>
            <a:ext cx="37761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Variáveis com correlação próxima de +1 realmente têm um poder explicativo muito forte da variação na saída. Isso é fundamental para bons modelos. Além disso tem impactos positivos nas métricas R², RMSE e MAE.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Múltiplas colunas próximas de +1 geram multicolinearidade, piora generalização e infla a variância.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708100" y="1410150"/>
            <a:ext cx="77388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3. MÉTRICAS DE AVALIAÇÃO PARA MODELOS DE APRENDIZADO SUPERVISIONADO</a:t>
            </a:r>
            <a:endParaRPr sz="4000"/>
          </a:p>
        </p:txBody>
      </p:sp>
      <p:sp>
        <p:nvSpPr>
          <p:cNvPr id="125" name="Google Shape;125;p18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lang="pt-BR">
                <a:solidFill>
                  <a:schemeClr val="lt1"/>
                </a:solidFill>
              </a:rPr>
              <a:t>R², MAE, RMSE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600975" y="1463550"/>
            <a:ext cx="6877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R² (Coeficiente de Determinação)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Mede o poder de interpretação do modelo na fase de teste, o quanto ele está indo bem na predição;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MAE (Erro Médio Absoluto)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Mostra o quanto em média o modelo está errando em relação ao valor real, quanto menor o MAE melhor será a predição;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RMSE (Raiz do Erro Quadrático Médio)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Mesma coisa do MAE só que elevando os valores ao quadrado antes de tirar a média, consegue mostrar bem valores discrepantes  (outliers).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/>
          <p:nvPr/>
        </p:nvSpPr>
        <p:spPr>
          <a:xfrm>
            <a:off x="600975" y="1463550"/>
            <a:ext cx="6877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R² (Coeficiente de Determinação)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Mede o poder de interpretação do modelo na fase de teste, o quanto ele está indo bem na predição;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MAE (Erro Médio Absoluto)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Mostra o quanto em média o modelo está errando em relação ao valor real, quanto menor o MAE melhor será a predição;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RMSE (Raiz do Erro Quadrático Médio)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Mesma coisa do MAE só que elevando os valores ao quadrado antes de tirar a média, consegue mostrar bem valores discrepantes  (outliers).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-296025" y="3433900"/>
            <a:ext cx="687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Ajustes futuros: gráficos de resíduos, cálculo do desvio padrão/variância das saídas.</a:t>
            </a:r>
            <a:endParaRPr b="1"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https://peerj.com/articles/cs-623/</a:t>
            </a:r>
            <a:endParaRPr b="1"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708100" y="1410150"/>
            <a:ext cx="77388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4. UTILIZANDO FLORESTA ALEATÓRIA PARA ANÁLISE DE DADOS</a:t>
            </a:r>
            <a:endParaRPr sz="4000"/>
          </a:p>
        </p:txBody>
      </p:sp>
      <p:sp>
        <p:nvSpPr>
          <p:cNvPr id="142" name="Google Shape;142;p21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ct val="100000"/>
              <a:buFont typeface="Lato"/>
              <a:buNone/>
            </a:pPr>
            <a:r>
              <a:rPr lang="pt-BR">
                <a:solidFill>
                  <a:schemeClr val="lt1"/>
                </a:solidFill>
              </a:rPr>
              <a:t>Variáveis de maior influência, análise percentual dos valores nulos (que mais contém 0’s), impactos dos valores nulos individualmente em cada variável e impacto de saídas com e sem zeros para cálculo da média e desvio padrão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/>
        </p:nvSpPr>
        <p:spPr>
          <a:xfrm>
            <a:off x="187125" y="355350"/>
            <a:ext cx="687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1º Etapa - Analisar individualmente as 15 variáveis mais impactantes para cada uma das 5 saídas no banco de dados de áreas de ponderação em MG utilizando 200 árvores.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4672900" y="1559625"/>
            <a:ext cx="4269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1)	ÔNUS EXCESSIVO: </a:t>
            </a:r>
            <a:r>
              <a:rPr lang="pt-BR" sz="1100"/>
              <a:t>O componente é quase todo zeros, e </a:t>
            </a:r>
            <a:r>
              <a:rPr b="1" lang="pt-BR" sz="1100"/>
              <a:t>Soma_V008.x</a:t>
            </a:r>
            <a:r>
              <a:rPr lang="pt-BR" sz="1100"/>
              <a:t> é a única variável com valores reais, logo o modelo só pode se apoiar nela; o R² alto reflete isso. 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Mas requer investigação no dicionário do Censo para confirmar.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900" y="1222938"/>
            <a:ext cx="4269000" cy="2697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/>
        </p:nvSpPr>
        <p:spPr>
          <a:xfrm>
            <a:off x="187125" y="355350"/>
            <a:ext cx="687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1º Etapa - Analisar individualmente as 15 variáveis mais impactantes para cada uma das 5 saídas no banco de dados de áreas de ponderação em MG utilizando 200 árvores.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4672900" y="1463550"/>
            <a:ext cx="4269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2) COABITAÇÃO: 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Duas variáveis dominantes (</a:t>
            </a: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Soma_V008.y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com 44% e </a:t>
            </a: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Soma_V011.y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com ~=38%) explicam bem o fenômeno. </a:t>
            </a:r>
            <a:r>
              <a:rPr lang="pt-BR" sz="1100"/>
              <a:t>O componente é quase todo zeros, e </a:t>
            </a:r>
            <a:r>
              <a:rPr b="1" lang="pt-BR" sz="1100"/>
              <a:t>Soma_V008.y 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 </a:t>
            </a: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Soma_V011.y</a:t>
            </a:r>
            <a:r>
              <a:rPr b="1" lang="pt-BR" sz="1100"/>
              <a:t> </a:t>
            </a:r>
            <a:r>
              <a:rPr lang="pt-BR" sz="1100"/>
              <a:t> são as únicas variáveis com valores reais, logo o modelo só pode se apoiar nelas; o R² alto reflete isso. 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Mas requer investigação no dicionário do Censo para confirmar.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25" y="1114288"/>
            <a:ext cx="4631299" cy="291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/>
        </p:nvSpPr>
        <p:spPr>
          <a:xfrm>
            <a:off x="187125" y="355350"/>
            <a:ext cx="687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1º Etapa - Analisar individualmente as 15 variáveis mais impactantes para cada uma das 5 saídas no banco de dados de áreas de ponderação em MG utilizando 200 árvores.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4658150" y="1463550"/>
            <a:ext cx="4269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3)	ADENSAMENTO: </a:t>
            </a:r>
            <a:r>
              <a:rPr lang="pt-BR" sz="1100"/>
              <a:t>Performance moderada (R²=0.497) com importância distribuída entre várias variáveis (Soma_V007.y lidera com 21%). O modelo captura parte dos padrões, mas faltam features importantes para melhor precisão.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3" name="Google Shape;16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900" y="1179562"/>
            <a:ext cx="4471425" cy="2784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000" y="1031850"/>
            <a:ext cx="4170024" cy="29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5"/>
          <p:cNvSpPr txBox="1"/>
          <p:nvPr/>
        </p:nvSpPr>
        <p:spPr>
          <a:xfrm>
            <a:off x="187125" y="355350"/>
            <a:ext cx="687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1º Etapa - Analisar individualmente as 15 variáveis mais impactantes para cada uma das 5 saídas no banco de dados de áreas de ponderação em MG utilizando 200 árvores.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4635950" y="1271400"/>
            <a:ext cx="4269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4) DOMICÍLIOS PRECÁRIOS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Péssimo desempenho (R²=0.180) causado pela alta concentração de zeros na base, poucos valores moderados e alguns outliers extremos. A importância muito dispersa (nenhuma variável domina) indica que o modelo não consegue identificar padrões claros. Este é um fenômeno genuinamente difícil de prever com as variáveis disponíveis.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Provavelmente nenhum modelo será tão bom para esse modelo.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Sugestão: modelos de contagem.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/>
        </p:nvSpPr>
        <p:spPr>
          <a:xfrm>
            <a:off x="187125" y="355350"/>
            <a:ext cx="687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1º Etapa - Analisar individualmente as 15 variáveis mais impactantes para cada uma das 5 saídas no banco de dados de áreas de ponderação em MG utilizando 200 árvores.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4635950" y="1271400"/>
            <a:ext cx="4269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4) DÉFICIT TOTAL</a:t>
            </a: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 Ótimo desempenho do coeficiente de rendimento(R² = 0.939. O modelo erra pouco em relação a unidades de déficit para a saída total. O RMSE não pune outliers discrepantes.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Conclusão: Ótimo aprendizado.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25" y="1271399"/>
            <a:ext cx="4571067" cy="29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/>
        </p:nvSpPr>
        <p:spPr>
          <a:xfrm>
            <a:off x="187125" y="355350"/>
            <a:ext cx="687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2º Etapa - Analisar as 10 variáveis com maior percentual de zeros em relação às suas instâncias totais  </a:t>
            </a: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banco de dados de áreas de ponderação em MG.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2700" y="861075"/>
            <a:ext cx="5478601" cy="342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/>
        </p:nvSpPr>
        <p:spPr>
          <a:xfrm>
            <a:off x="4504025" y="231800"/>
            <a:ext cx="434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/>
              <a:t>CONCLUSÃO:</a:t>
            </a:r>
            <a:r>
              <a:rPr lang="pt-BR" sz="1100"/>
              <a:t> Variáveis com muitos zeros (~70-80%) têm correlação quase nula com as saídas, o que significa que elas são </a:t>
            </a:r>
            <a:r>
              <a:rPr b="1" lang="pt-BR" sz="1100"/>
              <a:t>apenas ruídos</a:t>
            </a:r>
            <a:r>
              <a:rPr lang="pt-BR" sz="1100"/>
              <a:t> sem informação útil. Essas variáveis devem ser </a:t>
            </a:r>
            <a:r>
              <a:rPr b="1" lang="pt-BR" sz="1100"/>
              <a:t>removidas do dataset</a:t>
            </a:r>
            <a:r>
              <a:rPr lang="pt-BR" sz="1100"/>
              <a:t> antes do treinamento, pois só atrapalham: consomem recursos computacionais, aumentam risco de overfitting e diluem a capacidade do modelo de focar nas variáveis realmente importantes. Ao fazer essa </a:t>
            </a:r>
            <a:r>
              <a:rPr b="1" lang="pt-BR" sz="1100"/>
              <a:t>limpeza (feature selection)</a:t>
            </a:r>
            <a:r>
              <a:rPr lang="pt-BR" sz="1100"/>
              <a:t>, nossos modelos (Random Forest e Rede Neural) treinarão mais rápido e provavelmente terão </a:t>
            </a:r>
            <a:r>
              <a:rPr b="1" lang="pt-BR" sz="1100"/>
              <a:t>métricas melhores</a:t>
            </a:r>
            <a:r>
              <a:rPr lang="pt-BR" sz="1100"/>
              <a:t> (R² maior, MAE/RMSE menores), além de serem mais interpretáveis.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450" y="2347725"/>
            <a:ext cx="4269000" cy="2665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9550" y="369500"/>
            <a:ext cx="4759000" cy="477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/>
          <p:nvPr/>
        </p:nvSpPr>
        <p:spPr>
          <a:xfrm>
            <a:off x="463875" y="4016251"/>
            <a:ext cx="455771" cy="163479"/>
          </a:xfrm>
          <a:custGeom>
            <a:rect b="b" l="l" r="r" t="t"/>
            <a:pathLst>
              <a:path extrusionOk="0" h="3611" w="16857">
                <a:moveTo>
                  <a:pt x="0" y="3611"/>
                </a:moveTo>
                <a:cubicBezTo>
                  <a:pt x="5205" y="3611"/>
                  <a:pt x="10410" y="3486"/>
                  <a:pt x="15615" y="3486"/>
                </a:cubicBezTo>
                <a:cubicBezTo>
                  <a:pt x="16551" y="3486"/>
                  <a:pt x="17230" y="1567"/>
                  <a:pt x="16614" y="863"/>
                </a:cubicBezTo>
                <a:cubicBezTo>
                  <a:pt x="14886" y="-1112"/>
                  <a:pt x="11369" y="1113"/>
                  <a:pt x="8744" y="1113"/>
                </a:cubicBezTo>
                <a:cubicBezTo>
                  <a:pt x="5753" y="1113"/>
                  <a:pt x="-822" y="774"/>
                  <a:pt x="125" y="361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2" name="Google Shape;192;p28"/>
          <p:cNvSpPr/>
          <p:nvPr/>
        </p:nvSpPr>
        <p:spPr>
          <a:xfrm>
            <a:off x="463875" y="4559776"/>
            <a:ext cx="455771" cy="96802"/>
          </a:xfrm>
          <a:custGeom>
            <a:rect b="b" l="l" r="r" t="t"/>
            <a:pathLst>
              <a:path extrusionOk="0" h="3611" w="16857">
                <a:moveTo>
                  <a:pt x="0" y="3611"/>
                </a:moveTo>
                <a:cubicBezTo>
                  <a:pt x="5205" y="3611"/>
                  <a:pt x="10410" y="3486"/>
                  <a:pt x="15615" y="3486"/>
                </a:cubicBezTo>
                <a:cubicBezTo>
                  <a:pt x="16551" y="3486"/>
                  <a:pt x="17230" y="1567"/>
                  <a:pt x="16614" y="863"/>
                </a:cubicBezTo>
                <a:cubicBezTo>
                  <a:pt x="14886" y="-1112"/>
                  <a:pt x="11369" y="1113"/>
                  <a:pt x="8744" y="1113"/>
                </a:cubicBezTo>
                <a:cubicBezTo>
                  <a:pt x="5753" y="1113"/>
                  <a:pt x="-822" y="774"/>
                  <a:pt x="125" y="361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3" name="Google Shape;193;p28"/>
          <p:cNvSpPr/>
          <p:nvPr/>
        </p:nvSpPr>
        <p:spPr>
          <a:xfrm>
            <a:off x="463875" y="687050"/>
            <a:ext cx="455771" cy="163479"/>
          </a:xfrm>
          <a:custGeom>
            <a:rect b="b" l="l" r="r" t="t"/>
            <a:pathLst>
              <a:path extrusionOk="0" h="3611" w="16857">
                <a:moveTo>
                  <a:pt x="0" y="3611"/>
                </a:moveTo>
                <a:cubicBezTo>
                  <a:pt x="5205" y="3611"/>
                  <a:pt x="10410" y="3486"/>
                  <a:pt x="15615" y="3486"/>
                </a:cubicBezTo>
                <a:cubicBezTo>
                  <a:pt x="16551" y="3486"/>
                  <a:pt x="17230" y="1567"/>
                  <a:pt x="16614" y="863"/>
                </a:cubicBezTo>
                <a:cubicBezTo>
                  <a:pt x="14886" y="-1112"/>
                  <a:pt x="11369" y="1113"/>
                  <a:pt x="8744" y="1113"/>
                </a:cubicBezTo>
                <a:cubicBezTo>
                  <a:pt x="5753" y="1113"/>
                  <a:pt x="-822" y="774"/>
                  <a:pt x="125" y="361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4" name="Google Shape;194;p28"/>
          <p:cNvSpPr/>
          <p:nvPr/>
        </p:nvSpPr>
        <p:spPr>
          <a:xfrm>
            <a:off x="463875" y="3752525"/>
            <a:ext cx="455771" cy="212128"/>
          </a:xfrm>
          <a:custGeom>
            <a:rect b="b" l="l" r="r" t="t"/>
            <a:pathLst>
              <a:path extrusionOk="0" h="3611" w="16857">
                <a:moveTo>
                  <a:pt x="0" y="3611"/>
                </a:moveTo>
                <a:cubicBezTo>
                  <a:pt x="5205" y="3611"/>
                  <a:pt x="10410" y="3486"/>
                  <a:pt x="15615" y="3486"/>
                </a:cubicBezTo>
                <a:cubicBezTo>
                  <a:pt x="16551" y="3486"/>
                  <a:pt x="17230" y="1567"/>
                  <a:pt x="16614" y="863"/>
                </a:cubicBezTo>
                <a:cubicBezTo>
                  <a:pt x="14886" y="-1112"/>
                  <a:pt x="11369" y="1113"/>
                  <a:pt x="8744" y="1113"/>
                </a:cubicBezTo>
                <a:cubicBezTo>
                  <a:pt x="5753" y="1113"/>
                  <a:pt x="-822" y="774"/>
                  <a:pt x="125" y="361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5" name="Google Shape;195;p28"/>
          <p:cNvSpPr/>
          <p:nvPr/>
        </p:nvSpPr>
        <p:spPr>
          <a:xfrm>
            <a:off x="463875" y="4709176"/>
            <a:ext cx="455771" cy="96802"/>
          </a:xfrm>
          <a:custGeom>
            <a:rect b="b" l="l" r="r" t="t"/>
            <a:pathLst>
              <a:path extrusionOk="0" h="3611" w="16857">
                <a:moveTo>
                  <a:pt x="0" y="3611"/>
                </a:moveTo>
                <a:cubicBezTo>
                  <a:pt x="5205" y="3611"/>
                  <a:pt x="10410" y="3486"/>
                  <a:pt x="15615" y="3486"/>
                </a:cubicBezTo>
                <a:cubicBezTo>
                  <a:pt x="16551" y="3486"/>
                  <a:pt x="17230" y="1567"/>
                  <a:pt x="16614" y="863"/>
                </a:cubicBezTo>
                <a:cubicBezTo>
                  <a:pt x="14886" y="-1112"/>
                  <a:pt x="11369" y="1113"/>
                  <a:pt x="8744" y="1113"/>
                </a:cubicBezTo>
                <a:cubicBezTo>
                  <a:pt x="5753" y="1113"/>
                  <a:pt x="-822" y="774"/>
                  <a:pt x="125" y="361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6" name="Google Shape;196;p28"/>
          <p:cNvSpPr/>
          <p:nvPr/>
        </p:nvSpPr>
        <p:spPr>
          <a:xfrm>
            <a:off x="463875" y="4213827"/>
            <a:ext cx="455771" cy="163479"/>
          </a:xfrm>
          <a:custGeom>
            <a:rect b="b" l="l" r="r" t="t"/>
            <a:pathLst>
              <a:path extrusionOk="0" h="3611" w="16857">
                <a:moveTo>
                  <a:pt x="0" y="3611"/>
                </a:moveTo>
                <a:cubicBezTo>
                  <a:pt x="5205" y="3611"/>
                  <a:pt x="10410" y="3486"/>
                  <a:pt x="15615" y="3486"/>
                </a:cubicBezTo>
                <a:cubicBezTo>
                  <a:pt x="16551" y="3486"/>
                  <a:pt x="17230" y="1567"/>
                  <a:pt x="16614" y="863"/>
                </a:cubicBezTo>
                <a:cubicBezTo>
                  <a:pt x="14886" y="-1112"/>
                  <a:pt x="11369" y="1113"/>
                  <a:pt x="8744" y="1113"/>
                </a:cubicBezTo>
                <a:cubicBezTo>
                  <a:pt x="5753" y="1113"/>
                  <a:pt x="-822" y="774"/>
                  <a:pt x="125" y="3611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7" name="Google Shape;197;p28"/>
          <p:cNvSpPr txBox="1"/>
          <p:nvPr/>
        </p:nvSpPr>
        <p:spPr>
          <a:xfrm>
            <a:off x="919650" y="-24100"/>
            <a:ext cx="79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Domicílios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Precários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1522850" y="36800"/>
            <a:ext cx="79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Coabitação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2098125" y="-24100"/>
            <a:ext cx="7908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Ônus excessivo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2692275" y="36800"/>
            <a:ext cx="8655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Adensamento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3409600" y="-24100"/>
            <a:ext cx="60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Déficit Total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708100" y="1410150"/>
            <a:ext cx="7738800" cy="23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pt-BR" sz="3500"/>
              <a:t>5. REAVALIANDO A ETAPA 1 SEM AS VARIÁVEIS COM MAIS ZEROS</a:t>
            </a:r>
            <a:endParaRPr sz="4000"/>
          </a:p>
        </p:txBody>
      </p:sp>
      <p:sp>
        <p:nvSpPr>
          <p:cNvPr id="207" name="Google Shape;207;p29"/>
          <p:cNvSpPr txBox="1"/>
          <p:nvPr>
            <p:ph idx="4294967295" type="subTitle"/>
          </p:nvPr>
        </p:nvSpPr>
        <p:spPr>
          <a:xfrm>
            <a:off x="727952" y="3499525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lang="pt-BR">
                <a:solidFill>
                  <a:schemeClr val="lt1"/>
                </a:solidFill>
              </a:rPr>
              <a:t>Visualização de métricas.</a:t>
            </a:r>
            <a:endParaRPr b="1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/>
        </p:nvSpPr>
        <p:spPr>
          <a:xfrm>
            <a:off x="187125" y="355350"/>
            <a:ext cx="687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º Etapa - Refazer a etapa 1: “</a:t>
            </a: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Analisar individualmente as 15 variáveis mais impactantes para cada uma das 5 saídas no banco de dados de áreas de ponderação em MG utilizando 200 árvores.” removendo as variáveis com maior percentual de zero (hipoteticamente menor impacto)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50" y="1245350"/>
            <a:ext cx="4254049" cy="265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 txBox="1"/>
          <p:nvPr/>
        </p:nvSpPr>
        <p:spPr>
          <a:xfrm>
            <a:off x="187125" y="355350"/>
            <a:ext cx="6877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3º Etapa - Refazer a etapa 1: “Analisar individualmente as 15 variáveis mais impactantes para cada uma das 5 saídas no banco de dados de áreas de ponderação em MG utilizando 200 árvores.” removendo as variáveis com maior percentual de zero (hipoteticamente menor impacto)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50" y="3935275"/>
            <a:ext cx="6012275" cy="110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/>
        </p:nvSpPr>
        <p:spPr>
          <a:xfrm>
            <a:off x="187125" y="0"/>
            <a:ext cx="687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3º Etapa - Ônus excessivo de aluguel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5" name="Google Shape;22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13" y="798700"/>
            <a:ext cx="3168375" cy="200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/>
          <p:nvPr/>
        </p:nvSpPr>
        <p:spPr>
          <a:xfrm>
            <a:off x="54100" y="480325"/>
            <a:ext cx="32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 todas as variáveis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32"/>
          <p:cNvSpPr txBox="1"/>
          <p:nvPr/>
        </p:nvSpPr>
        <p:spPr>
          <a:xfrm>
            <a:off x="4315800" y="280225"/>
            <a:ext cx="44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5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8" name="Google Shape;2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125" y="798712"/>
            <a:ext cx="3071025" cy="192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8025" y="3074360"/>
            <a:ext cx="2965554" cy="1924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/>
          <p:nvPr/>
        </p:nvSpPr>
        <p:spPr>
          <a:xfrm>
            <a:off x="5796175" y="3336925"/>
            <a:ext cx="282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10 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/>
        </p:nvSpPr>
        <p:spPr>
          <a:xfrm>
            <a:off x="187125" y="0"/>
            <a:ext cx="687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3º Etapa - Coabitação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54100" y="480325"/>
            <a:ext cx="32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 todas as variáveis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4315800" y="280225"/>
            <a:ext cx="44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5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8" name="Google Shape;238;p33"/>
          <p:cNvSpPr txBox="1"/>
          <p:nvPr/>
        </p:nvSpPr>
        <p:spPr>
          <a:xfrm>
            <a:off x="5796175" y="3336925"/>
            <a:ext cx="282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10 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39" name="Google Shape;23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25" y="865225"/>
            <a:ext cx="3286656" cy="206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6325" y="870799"/>
            <a:ext cx="3286651" cy="207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6875" y="3060125"/>
            <a:ext cx="3161300" cy="198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/>
        </p:nvSpPr>
        <p:spPr>
          <a:xfrm>
            <a:off x="187125" y="0"/>
            <a:ext cx="687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3º Etapa - Adensamento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54100" y="480325"/>
            <a:ext cx="32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 todas as variáveis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4315800" y="280225"/>
            <a:ext cx="44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5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5796175" y="3336925"/>
            <a:ext cx="282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10 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0" name="Google Shape;25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800" y="808254"/>
            <a:ext cx="3306301" cy="2058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1462" y="808250"/>
            <a:ext cx="3282585" cy="20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7900" y="3115350"/>
            <a:ext cx="3069050" cy="198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/>
        </p:nvSpPr>
        <p:spPr>
          <a:xfrm>
            <a:off x="187125" y="0"/>
            <a:ext cx="687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3º Etapa - Domicílios precários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35"/>
          <p:cNvSpPr txBox="1"/>
          <p:nvPr/>
        </p:nvSpPr>
        <p:spPr>
          <a:xfrm>
            <a:off x="54100" y="480325"/>
            <a:ext cx="32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 todas as variáveis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9" name="Google Shape;259;p35"/>
          <p:cNvSpPr txBox="1"/>
          <p:nvPr/>
        </p:nvSpPr>
        <p:spPr>
          <a:xfrm>
            <a:off x="4315800" y="280225"/>
            <a:ext cx="44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5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0" name="Google Shape;260;p35"/>
          <p:cNvSpPr txBox="1"/>
          <p:nvPr/>
        </p:nvSpPr>
        <p:spPr>
          <a:xfrm>
            <a:off x="5796175" y="3336925"/>
            <a:ext cx="282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10 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1" name="Google Shape;26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6725" y="896738"/>
            <a:ext cx="3138646" cy="194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3775" y="3000375"/>
            <a:ext cx="3064924" cy="19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775" y="785600"/>
            <a:ext cx="2973374" cy="207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/>
        </p:nvSpPr>
        <p:spPr>
          <a:xfrm>
            <a:off x="187125" y="0"/>
            <a:ext cx="687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pt-BR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3º Etapa - Déficit total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9" name="Google Shape;269;p36"/>
          <p:cNvSpPr txBox="1"/>
          <p:nvPr/>
        </p:nvSpPr>
        <p:spPr>
          <a:xfrm>
            <a:off x="54100" y="480325"/>
            <a:ext cx="3214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 todas as variáveis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4315800" y="280225"/>
            <a:ext cx="44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5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5796175" y="3336925"/>
            <a:ext cx="282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➔"/>
            </a:pPr>
            <a:r>
              <a:rPr b="1" lang="pt-BR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Sem as 10  variáveis com maior percentual de zeros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72" name="Google Shape;27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0" y="812949"/>
            <a:ext cx="3410186" cy="2166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6375" y="886000"/>
            <a:ext cx="3046701" cy="1952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2650" y="3022575"/>
            <a:ext cx="3103517" cy="195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