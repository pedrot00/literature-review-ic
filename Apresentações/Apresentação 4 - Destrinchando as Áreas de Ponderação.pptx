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Raleway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4" roundtripDataSignature="AMtx7mieDhDrIl0pickhEUeQ+GqdyHYL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20" Type="http://schemas.openxmlformats.org/officeDocument/2006/relationships/slide" Target="slides/slide15.xml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Lat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aleway-bold.fntdata"/><Relationship Id="rId14" Type="http://schemas.openxmlformats.org/officeDocument/2006/relationships/slide" Target="slides/slide9.xml"/><Relationship Id="rId36" Type="http://schemas.openxmlformats.org/officeDocument/2006/relationships/font" Target="fonts/Raleway-regular.fntdata"/><Relationship Id="rId17" Type="http://schemas.openxmlformats.org/officeDocument/2006/relationships/slide" Target="slides/slide12.xml"/><Relationship Id="rId39" Type="http://schemas.openxmlformats.org/officeDocument/2006/relationships/font" Target="fonts/Raleway-boldItalic.fntdata"/><Relationship Id="rId16" Type="http://schemas.openxmlformats.org/officeDocument/2006/relationships/slide" Target="slides/slide11.xml"/><Relationship Id="rId38" Type="http://schemas.openxmlformats.org/officeDocument/2006/relationships/font" Target="fonts/Raleway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3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3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9" name="Google Shape;19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3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3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3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" name="Google Shape;41;p3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2" name="Google Shape;42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" name="Google Shape;44;p3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5" name="Google Shape;45;p3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" name="Google Shape;5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1" name="Google Shape;5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3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4" name="Google Shape;54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" name="Google Shape;57;p3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8" name="Google Shape;58;p3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3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1" name="Google Shape;61;p3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4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6" name="Google Shape;66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4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9" name="Google Shape;69;p4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0" name="Google Shape;70;p4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4" name="Google Shape;74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42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4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42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997800" y="1607525"/>
            <a:ext cx="71484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ANÁLISE  EM ÁREAS DE PONDERAÇÃO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450" y="3047275"/>
            <a:ext cx="70449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ctrTitle"/>
          </p:nvPr>
        </p:nvSpPr>
        <p:spPr>
          <a:xfrm>
            <a:off x="804175" y="370050"/>
            <a:ext cx="47274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1414"/>
              <a:buNone/>
            </a:pPr>
            <a:r>
              <a:rPr lang="pt-BR" sz="3300"/>
              <a:t>SUMÁRIO</a:t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365275" y="1220575"/>
            <a:ext cx="8844900" cy="3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pt-BR" sz="1400">
                <a:solidFill>
                  <a:schemeClr val="dk2"/>
                </a:solidFill>
              </a:rPr>
              <a:t>Alterações nome das entradas: refatoração mapa de calor, variáveis mais importantes, variáveis com mais zeros;</a:t>
            </a:r>
            <a:endParaRPr sz="14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pt-BR" sz="1400">
                <a:solidFill>
                  <a:schemeClr val="dk2"/>
                </a:solidFill>
              </a:rPr>
              <a:t>Testes com otimização na Random Forest: utilização de novos hiperparâmetros, maior explicabilidade para os resultados anteriores, mais referências para a elaboração do artigo;</a:t>
            </a:r>
            <a:endParaRPr sz="14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pt-BR" sz="1400">
                <a:solidFill>
                  <a:schemeClr val="dk2"/>
                </a:solidFill>
              </a:rPr>
              <a:t>Contribuição e dispersão individual das áreas de ponderação por instância através de mapa Beeswarm</a:t>
            </a:r>
            <a:endParaRPr sz="14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pt-BR" sz="1400">
                <a:solidFill>
                  <a:schemeClr val="dk2"/>
                </a:solidFill>
              </a:rPr>
              <a:t>Quantificação no impacto marginal de cada variável no desempenho através de permutação de importância;</a:t>
            </a:r>
            <a:endParaRPr sz="14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pt-BR" sz="1400">
                <a:solidFill>
                  <a:schemeClr val="dk2"/>
                </a:solidFill>
              </a:rPr>
              <a:t>Mapeamento espacial dos erros: identificação das AP’s que possuem maior erro e possibilidade de análise de erros por padrões geográficos;</a:t>
            </a:r>
            <a:endParaRPr sz="14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pt-BR" sz="1400">
                <a:solidFill>
                  <a:schemeClr val="dk2"/>
                </a:solidFill>
              </a:rPr>
              <a:t>Sobre desagregação e próximos passos</a:t>
            </a:r>
            <a:endParaRPr sz="1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708100" y="1410150"/>
            <a:ext cx="70212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500"/>
              <a:t>1. </a:t>
            </a:r>
            <a:r>
              <a:rPr b="0" lang="pt-BR" sz="3500"/>
              <a:t>Alterações nome da entradas </a:t>
            </a:r>
            <a:endParaRPr sz="3500"/>
          </a:p>
        </p:txBody>
      </p:sp>
      <p:sp>
        <p:nvSpPr>
          <p:cNvPr id="99" name="Google Shape;99;p3"/>
          <p:cNvSpPr txBox="1"/>
          <p:nvPr>
            <p:ph idx="4294967295" type="subTitle"/>
          </p:nvPr>
        </p:nvSpPr>
        <p:spPr>
          <a:xfrm>
            <a:off x="727952" y="3499525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2857"/>
              <a:buFont typeface="Arial"/>
              <a:buNone/>
            </a:pPr>
            <a:r>
              <a:rPr b="1" i="0" lang="pt-BR" sz="35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Refatoração mapa de calor, variáveis mais importantes, variáveis com mais zeros;</a:t>
            </a:r>
            <a:endParaRPr b="1" i="0" sz="35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15271"/>
            <a:ext cx="8991599" cy="4675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1" cy="4257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4950"/>
            <a:ext cx="9144000" cy="45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708100" y="1410150"/>
            <a:ext cx="70212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500"/>
              <a:t>2. </a:t>
            </a:r>
            <a:r>
              <a:rPr b="0" lang="pt-BR" sz="3500"/>
              <a:t>Testes com otimização na Random Forest </a:t>
            </a:r>
            <a:endParaRPr sz="3500"/>
          </a:p>
        </p:txBody>
      </p:sp>
      <p:sp>
        <p:nvSpPr>
          <p:cNvPr id="120" name="Google Shape;120;p7"/>
          <p:cNvSpPr txBox="1"/>
          <p:nvPr>
            <p:ph idx="4294967295" type="subTitle"/>
          </p:nvPr>
        </p:nvSpPr>
        <p:spPr>
          <a:xfrm>
            <a:off x="727952" y="3499525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Utilização de novos hiperparâmetros, maior explicabilidade para os resultados anteriores, mais referências para a elaboração do artigo;</a:t>
            </a:r>
            <a:endParaRPr b="1" i="0" sz="14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ctrTitle"/>
          </p:nvPr>
        </p:nvSpPr>
        <p:spPr>
          <a:xfrm>
            <a:off x="152400" y="120575"/>
            <a:ext cx="86436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2857"/>
              <a:buFont typeface="Arial"/>
              <a:buNone/>
            </a:pPr>
            <a:r>
              <a:rPr b="0" lang="pt-BR" sz="3500">
                <a:solidFill>
                  <a:srgbClr val="434343"/>
                </a:solidFill>
              </a:rPr>
              <a:t>Testes com otimização</a:t>
            </a:r>
            <a:endParaRPr/>
          </a:p>
        </p:txBody>
      </p:sp>
      <p:sp>
        <p:nvSpPr>
          <p:cNvPr id="126" name="Google Shape;126;p8"/>
          <p:cNvSpPr txBox="1"/>
          <p:nvPr/>
        </p:nvSpPr>
        <p:spPr>
          <a:xfrm>
            <a:off x="5440900" y="981850"/>
            <a:ext cx="3575100" cy="20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Padrão biblioteca sklearn 1.3: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b="0" i="0" lang="pt-BR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n_estimartors = 100;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b="0" i="0" lang="pt-BR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max_depth = None;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b="0" i="0" lang="pt-BR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min_sample_leaf = 1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b="0" i="0" lang="pt-BR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max_features = default=’srqt’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b="0" i="0" lang="pt-BR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bootstrap = True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b="0" i="0" lang="pt-BR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randon_state = None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b="0" i="0" lang="pt-BR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n_jobs = None (usa somente um core)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75" y="1055800"/>
            <a:ext cx="5136101" cy="2060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553787"/>
            <a:ext cx="8839200" cy="1073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ctrTitle"/>
          </p:nvPr>
        </p:nvSpPr>
        <p:spPr>
          <a:xfrm>
            <a:off x="152400" y="120575"/>
            <a:ext cx="86436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2857"/>
              <a:buFont typeface="Arial"/>
              <a:buNone/>
            </a:pPr>
            <a:r>
              <a:rPr b="0" lang="pt-BR" sz="3500">
                <a:solidFill>
                  <a:srgbClr val="434343"/>
                </a:solidFill>
              </a:rPr>
              <a:t>Testes com otimização</a:t>
            </a:r>
            <a:endParaRPr/>
          </a:p>
        </p:txBody>
      </p:sp>
      <p:sp>
        <p:nvSpPr>
          <p:cNvPr id="134" name="Google Shape;134;p9"/>
          <p:cNvSpPr txBox="1"/>
          <p:nvPr/>
        </p:nvSpPr>
        <p:spPr>
          <a:xfrm>
            <a:off x="407400" y="1436100"/>
            <a:ext cx="61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https://www.stat.berkeley.edu/~breiman/randomforest2001.pdf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541850" y="2122575"/>
            <a:ext cx="61335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 desempenho da floresta aleatória depende da relação entre correlação e força</a:t>
            </a:r>
            <a:endParaRPr b="0" i="0" sz="13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Força</a:t>
            </a:r>
            <a:r>
              <a:rPr b="0" i="0" lang="pt-BR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Predição boa de cada árvore individualmente</a:t>
            </a:r>
            <a:endParaRPr b="0" i="0" sz="13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Correlação </a:t>
            </a:r>
            <a:r>
              <a:rPr b="0" i="0" lang="pt-BR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entre árvores: quão parecida são as árvores, se todas as árvores cometem o mesmo erro a floresta é fraca</a:t>
            </a:r>
            <a:endParaRPr b="0" i="0" sz="13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title"/>
          </p:nvPr>
        </p:nvSpPr>
        <p:spPr>
          <a:xfrm>
            <a:off x="727950" y="1410150"/>
            <a:ext cx="70212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500"/>
              <a:t>3. </a:t>
            </a:r>
            <a:r>
              <a:rPr b="0" lang="pt-BR" sz="3500"/>
              <a:t>Contribuição e dispersão individual das áreas de ponderação por instância </a:t>
            </a:r>
            <a:endParaRPr sz="3500"/>
          </a:p>
        </p:txBody>
      </p:sp>
      <p:sp>
        <p:nvSpPr>
          <p:cNvPr id="141" name="Google Shape;141;p10"/>
          <p:cNvSpPr txBox="1"/>
          <p:nvPr>
            <p:ph idx="4294967295" type="subTitle"/>
          </p:nvPr>
        </p:nvSpPr>
        <p:spPr>
          <a:xfrm>
            <a:off x="727952" y="3499525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Gráfico Beeswarm</a:t>
            </a:r>
            <a:endParaRPr b="1" i="0" sz="14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388" y="292125"/>
            <a:ext cx="8891223" cy="45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5692"/>
            <a:ext cx="9143998" cy="4672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9" cy="4497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4544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8" cy="4502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9" cy="444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4537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4504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2" cy="4547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8" cy="4514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type="title"/>
          </p:nvPr>
        </p:nvSpPr>
        <p:spPr>
          <a:xfrm>
            <a:off x="727950" y="1410150"/>
            <a:ext cx="70212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500"/>
              <a:t>4. </a:t>
            </a:r>
            <a:r>
              <a:rPr b="0" lang="pt-BR" sz="3500"/>
              <a:t>Quantificação no impacto marginal de cada variável no desempenho através de permutação de importância</a:t>
            </a:r>
            <a:endParaRPr b="0" sz="3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3041"/>
            <a:ext cx="9144001" cy="4637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3041"/>
            <a:ext cx="9144001" cy="4637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9939"/>
            <a:ext cx="9143998" cy="4783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1" cy="4551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8" cy="4540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45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>
            <p:ph type="title"/>
          </p:nvPr>
        </p:nvSpPr>
        <p:spPr>
          <a:xfrm>
            <a:off x="727950" y="1410150"/>
            <a:ext cx="70212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2857"/>
              <a:buNone/>
            </a:pPr>
            <a:r>
              <a:rPr lang="pt-BR" sz="3500"/>
              <a:t>5. </a:t>
            </a:r>
            <a:r>
              <a:rPr b="0" lang="pt-BR" sz="3500"/>
              <a:t>Mapeamento espacial dos erros: identificação das AP’s que possuem maior erro e possibilidade de análise de erros por padrões geográficos;</a:t>
            </a:r>
            <a:endParaRPr sz="3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4525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727950" y="1410150"/>
            <a:ext cx="70212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500"/>
              <a:t>6. </a:t>
            </a:r>
            <a:r>
              <a:rPr b="0" lang="pt-BR" sz="3500"/>
              <a:t>Sobre desagregação e próximos passos</a:t>
            </a:r>
            <a:endParaRPr sz="3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/>
        </p:nvSpPr>
        <p:spPr>
          <a:xfrm>
            <a:off x="246475" y="391100"/>
            <a:ext cx="8036100" cy="4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 vs Esparsidade (Porcentagem de Zeros)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Verificar se AP com muitas variáveis esparsas produz erros maiores e se há relação entre sparsity e dificuldade preditiva. Output: gráfico e regressão erro × porcentagem de zeros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1.1 Validação estratificada por região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Caracterização da Saída “Domicílios Precários”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Entender por que esse alvo tem desempenho baixo (ex.: alta assimetria, zeros excessivos, cauda longa). Inclui: histograma, kurtosis, skewness, dispersão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2.1. Encontrar modelos de predição somente para essa saída (métodos de gradiente provavelmente)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Conceitual para Desagregação (Setores Censitários)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o banco de setores censitários preparar metodologia de downscaling atuando com ambos os bancos e relacionando o valor predito por cód. ponderação em relação a cada setor censitário a ele associado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3.1 Definir metodologia estatística de desagregação (provavelmente a FJP já tem alguma).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 txBox="1"/>
          <p:nvPr>
            <p:ph idx="4294967295" type="ctrTitle"/>
          </p:nvPr>
        </p:nvSpPr>
        <p:spPr>
          <a:xfrm>
            <a:off x="152400" y="120575"/>
            <a:ext cx="86436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2857"/>
              <a:buFont typeface="Arial"/>
              <a:buNone/>
            </a:pPr>
            <a:r>
              <a:rPr b="0" i="0" lang="pt-BR" sz="3500" u="none" cap="none" strike="noStrike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Sobre desagregação e próximos passos</a:t>
            </a:r>
            <a:endParaRPr b="1" i="0" sz="28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